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Top</a:t>
            </a:r>
            <a:r>
              <a:rPr lang="en-US" baseline="0" dirty="0" smtClean="0"/>
              <a:t> channels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Count of CHANNEL2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Sheet1!$F$2:$F$20</c:f>
              <c:strCache>
                <c:ptCount val="19"/>
                <c:pt idx="0">
                  <c:v>Africa Magic</c:v>
                </c:pt>
                <c:pt idx="1">
                  <c:v>Boomerang</c:v>
                </c:pt>
                <c:pt idx="2">
                  <c:v>Break in transmission</c:v>
                </c:pt>
                <c:pt idx="3">
                  <c:v>Cartoon Network</c:v>
                </c:pt>
                <c:pt idx="4">
                  <c:v>Channel O</c:v>
                </c:pt>
                <c:pt idx="5">
                  <c:v>CNN</c:v>
                </c:pt>
                <c:pt idx="6">
                  <c:v>DStv Events 1</c:v>
                </c:pt>
                <c:pt idx="7">
                  <c:v>E! Entertainment</c:v>
                </c:pt>
                <c:pt idx="8">
                  <c:v>ICC Cricket World Cup 2011</c:v>
                </c:pt>
                <c:pt idx="9">
                  <c:v>kykNET</c:v>
                </c:pt>
                <c:pt idx="10">
                  <c:v>Live on SuperSport</c:v>
                </c:pt>
                <c:pt idx="11">
                  <c:v>MK</c:v>
                </c:pt>
                <c:pt idx="12">
                  <c:v>M-Net</c:v>
                </c:pt>
                <c:pt idx="13">
                  <c:v>SawSee</c:v>
                </c:pt>
                <c:pt idx="14">
                  <c:v>SuperSport Blitz</c:v>
                </c:pt>
                <c:pt idx="15">
                  <c:v>Supersport Live Events</c:v>
                </c:pt>
                <c:pt idx="16">
                  <c:v>Trace TV</c:v>
                </c:pt>
                <c:pt idx="17">
                  <c:v>Vuzu</c:v>
                </c:pt>
                <c:pt idx="18">
                  <c:v>Wimbledon</c:v>
                </c:pt>
              </c:strCache>
            </c:strRef>
          </c:cat>
          <c:val>
            <c:numRef>
              <c:f>Sheet1!$G$2:$G$20</c:f>
              <c:numCache>
                <c:formatCode>General</c:formatCode>
                <c:ptCount val="19"/>
                <c:pt idx="0">
                  <c:v>859</c:v>
                </c:pt>
                <c:pt idx="1">
                  <c:v>714</c:v>
                </c:pt>
                <c:pt idx="2">
                  <c:v>66</c:v>
                </c:pt>
                <c:pt idx="3">
                  <c:v>793</c:v>
                </c:pt>
                <c:pt idx="4">
                  <c:v>1050</c:v>
                </c:pt>
                <c:pt idx="5">
                  <c:v>505</c:v>
                </c:pt>
                <c:pt idx="6">
                  <c:v>107</c:v>
                </c:pt>
                <c:pt idx="7">
                  <c:v>367</c:v>
                </c:pt>
                <c:pt idx="8">
                  <c:v>1465</c:v>
                </c:pt>
                <c:pt idx="9">
                  <c:v>45</c:v>
                </c:pt>
                <c:pt idx="10">
                  <c:v>2</c:v>
                </c:pt>
                <c:pt idx="11">
                  <c:v>32</c:v>
                </c:pt>
                <c:pt idx="12">
                  <c:v>116</c:v>
                </c:pt>
                <c:pt idx="13">
                  <c:v>255</c:v>
                </c:pt>
                <c:pt idx="14">
                  <c:v>896</c:v>
                </c:pt>
                <c:pt idx="15">
                  <c:v>1662</c:v>
                </c:pt>
                <c:pt idx="16">
                  <c:v>952</c:v>
                </c:pt>
                <c:pt idx="17">
                  <c:v>111</c:v>
                </c:pt>
                <c:pt idx="18">
                  <c:v>3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-1471502016"/>
        <c:axId val="-1471503104"/>
      </c:barChart>
      <c:catAx>
        <c:axId val="-1471502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71503104"/>
        <c:crosses val="autoZero"/>
        <c:auto val="1"/>
        <c:lblAlgn val="ctr"/>
        <c:lblOffset val="100"/>
        <c:noMultiLvlLbl val="0"/>
      </c:catAx>
      <c:valAx>
        <c:axId val="-1471503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71502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Views</a:t>
            </a:r>
            <a:r>
              <a:rPr lang="en-US" baseline="0" dirty="0" smtClean="0"/>
              <a:t> by the day of the week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Count of DAY_NAME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Sheet1!$F$2:$F$8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1398</c:v>
                </c:pt>
                <c:pt idx="1">
                  <c:v>974</c:v>
                </c:pt>
                <c:pt idx="2">
                  <c:v>1321</c:v>
                </c:pt>
                <c:pt idx="3">
                  <c:v>1539</c:v>
                </c:pt>
                <c:pt idx="4">
                  <c:v>1471</c:v>
                </c:pt>
                <c:pt idx="5">
                  <c:v>1642</c:v>
                </c:pt>
                <c:pt idx="6">
                  <c:v>1655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71511808"/>
        <c:axId val="-1471501472"/>
      </c:barChart>
      <c:catAx>
        <c:axId val="-1471511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71501472"/>
        <c:crosses val="autoZero"/>
        <c:auto val="1"/>
        <c:lblAlgn val="ctr"/>
        <c:lblOffset val="100"/>
        <c:noMultiLvlLbl val="0"/>
      </c:catAx>
      <c:valAx>
        <c:axId val="-147150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71511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Views</a:t>
            </a:r>
            <a:r>
              <a:rPr lang="en-US" baseline="0" dirty="0" smtClean="0"/>
              <a:t> by time bucket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Sheet1!$E$1</c:f>
              <c:strCache>
                <c:ptCount val="1"/>
                <c:pt idx="0">
                  <c:v>Count of TIME_CLASSIFICATION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Sheet1!$D$2:$D$6</c:f>
              <c:strCache>
                <c:ptCount val="5"/>
                <c:pt idx="0">
                  <c:v>Afternoon</c:v>
                </c:pt>
                <c:pt idx="1">
                  <c:v>Evening</c:v>
                </c:pt>
                <c:pt idx="2">
                  <c:v>Midnight</c:v>
                </c:pt>
                <c:pt idx="3">
                  <c:v>Morning</c:v>
                </c:pt>
                <c:pt idx="4">
                  <c:v>Night</c:v>
                </c:pt>
              </c:strCache>
            </c:strRef>
          </c:cat>
          <c:val>
            <c:numRef>
              <c:f>Sheet1!$E$2:$E$6</c:f>
              <c:numCache>
                <c:formatCode>0.00%</c:formatCode>
                <c:ptCount val="5"/>
                <c:pt idx="0">
                  <c:v>0.38069999999999998</c:v>
                </c:pt>
                <c:pt idx="1">
                  <c:v>0.20749999999999999</c:v>
                </c:pt>
                <c:pt idx="2">
                  <c:v>2.7799999999999998E-2</c:v>
                </c:pt>
                <c:pt idx="3">
                  <c:v>0.35630000000000001</c:v>
                </c:pt>
                <c:pt idx="4">
                  <c:v>2.7699999999999999E-2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Classification</a:t>
            </a:r>
            <a:r>
              <a:rPr lang="en-US" baseline="0" dirty="0" smtClean="0"/>
              <a:t> of age groups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Count of AGE_GROUP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Sheet1!$F$2:$F$6</c:f>
              <c:strCache>
                <c:ptCount val="5"/>
                <c:pt idx="0">
                  <c:v>Adult</c:v>
                </c:pt>
                <c:pt idx="1">
                  <c:v>Children</c:v>
                </c:pt>
                <c:pt idx="2">
                  <c:v>senior citzens</c:v>
                </c:pt>
                <c:pt idx="3">
                  <c:v>Teenager</c:v>
                </c:pt>
                <c:pt idx="4">
                  <c:v>Young adult</c:v>
                </c:pt>
              </c:strCache>
            </c:strRef>
          </c:cat>
          <c:val>
            <c:numRef>
              <c:f>Sheet1!$G$2:$G$6</c:f>
              <c:numCache>
                <c:formatCode>0.00%</c:formatCode>
                <c:ptCount val="5"/>
                <c:pt idx="0">
                  <c:v>0.20148837209302325</c:v>
                </c:pt>
                <c:pt idx="1">
                  <c:v>7.4418604651162795E-3</c:v>
                </c:pt>
                <c:pt idx="2">
                  <c:v>0.17302325581395347</c:v>
                </c:pt>
                <c:pt idx="3">
                  <c:v>3.5162790697674418E-2</c:v>
                </c:pt>
                <c:pt idx="4">
                  <c:v>0.58288372093023255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71500928"/>
        <c:axId val="-1471515616"/>
      </c:barChart>
      <c:catAx>
        <c:axId val="-147150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71515616"/>
        <c:crosses val="autoZero"/>
        <c:auto val="1"/>
        <c:lblAlgn val="ctr"/>
        <c:lblOffset val="100"/>
        <c:noMultiLvlLbl val="0"/>
      </c:catAx>
      <c:valAx>
        <c:axId val="-1471515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71500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GENDER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Sheet1!$B$7</c:f>
              <c:strCache>
                <c:ptCount val="1"/>
                <c:pt idx="0">
                  <c:v>Count of GENDER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0000"/>
                    </a:schemeClr>
                  </a:gs>
                  <a:gs pos="78000">
                    <a:schemeClr val="accent1"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0000"/>
                    </a:schemeClr>
                  </a:gs>
                  <a:gs pos="78000">
                    <a:schemeClr val="accent2"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0000"/>
                    </a:schemeClr>
                  </a:gs>
                  <a:gs pos="78000">
                    <a:schemeClr val="accent3">
                      <a:shade val="94000"/>
                      <a:lumMod val="94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Sheet1!$A$8:$A$10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None</c:v>
                </c:pt>
              </c:strCache>
            </c:strRef>
          </c:cat>
          <c:val>
            <c:numRef>
              <c:f>Sheet1!$B$8:$B$10</c:f>
              <c:numCache>
                <c:formatCode>0%</c:formatCode>
                <c:ptCount val="3"/>
                <c:pt idx="0">
                  <c:v>0.10413030831879</c:v>
                </c:pt>
                <c:pt idx="1">
                  <c:v>0.75974403723094819</c:v>
                </c:pt>
                <c:pt idx="2">
                  <c:v>0.13612565445026178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Types</a:t>
            </a:r>
            <a:r>
              <a:rPr lang="en-US" baseline="0" dirty="0" smtClean="0"/>
              <a:t> of</a:t>
            </a:r>
            <a:r>
              <a:rPr lang="en-US" dirty="0" smtClean="0"/>
              <a:t> advertisement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Count of ADVERSTIMENT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Sheet1!$A$8:$A$10</c15:sqref>
                  </c15:fullRef>
                </c:ext>
              </c:extLst>
              <c:f>Sheet1!$A$8:$A$9</c:f>
              <c:strCache>
                <c:ptCount val="2"/>
                <c:pt idx="0">
                  <c:v>Email adverstisment</c:v>
                </c:pt>
                <c:pt idx="1">
                  <c:v>social media advertisement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Sheet1!$B$8:$B$10</c15:sqref>
                  </c15:fullRef>
                </c:ext>
              </c:extLst>
              <c:f>Sheet1!$B$8:$B$9</c:f>
              <c:numCache>
                <c:formatCode>General</c:formatCode>
                <c:ptCount val="2"/>
                <c:pt idx="0">
                  <c:v>920</c:v>
                </c:pt>
                <c:pt idx="1">
                  <c:v>4455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755794816"/>
        <c:axId val="-1755796992"/>
      </c:barChart>
      <c:catAx>
        <c:axId val="-175579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755796992"/>
        <c:crosses val="autoZero"/>
        <c:auto val="1"/>
        <c:lblAlgn val="ctr"/>
        <c:lblOffset val="100"/>
        <c:noMultiLvlLbl val="0"/>
      </c:catAx>
      <c:valAx>
        <c:axId val="-175579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755794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4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3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14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74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01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06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61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1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876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9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41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6444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0380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22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901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03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15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4658" y="1178407"/>
            <a:ext cx="7766936" cy="1646302"/>
          </a:xfrm>
        </p:spPr>
        <p:txBody>
          <a:bodyPr/>
          <a:lstStyle/>
          <a:p>
            <a:r>
              <a:rPr lang="en-US" dirty="0" smtClean="0"/>
              <a:t>Bright TV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3791" y="2889321"/>
            <a:ext cx="5543666" cy="1096899"/>
          </a:xfrm>
        </p:spPr>
        <p:txBody>
          <a:bodyPr/>
          <a:lstStyle/>
          <a:p>
            <a:r>
              <a:rPr lang="en-US" dirty="0" smtClean="0"/>
              <a:t>BY Nothando </a:t>
            </a:r>
            <a:r>
              <a:rPr lang="en-US" dirty="0" err="1" smtClean="0"/>
              <a:t>Mkhomazi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12" y="2824709"/>
            <a:ext cx="3860679" cy="36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6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27" y="245919"/>
            <a:ext cx="3549121" cy="907472"/>
          </a:xfrm>
        </p:spPr>
        <p:txBody>
          <a:bodyPr/>
          <a:lstStyle/>
          <a:p>
            <a:r>
              <a:rPr lang="en-US" dirty="0" smtClean="0"/>
              <a:t>Top channels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245872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27" y="1226127"/>
            <a:ext cx="4607405" cy="2909455"/>
          </a:xfrm>
        </p:spPr>
        <p:txBody>
          <a:bodyPr/>
          <a:lstStyle/>
          <a:p>
            <a:r>
              <a:rPr lang="en-US" dirty="0" smtClean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top channels chart shows a clear concentration of viewership around a small group of channels.</a:t>
            </a:r>
          </a:p>
          <a:p>
            <a:r>
              <a:rPr lang="en-US" dirty="0" smtClean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This indicates content driven loyalty  with users returning to very specific content genres. </a:t>
            </a:r>
          </a:p>
          <a:p>
            <a:r>
              <a:rPr lang="en-US" dirty="0" smtClean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channels with the lowest view are Wimbledon and live on Sport. Tis may be due to people watch live streams on their phones or the channels may lack reach.</a:t>
            </a:r>
          </a:p>
          <a:p>
            <a:r>
              <a:rPr lang="en-US" dirty="0" smtClean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However bright tv does have channels that have high views, these channels should be prioritized for exclusive content, promotional partnerships</a:t>
            </a:r>
          </a:p>
          <a:p>
            <a:endParaRPr lang="en-US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127" y="4540827"/>
            <a:ext cx="452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49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352" y="514350"/>
            <a:ext cx="3854528" cy="865143"/>
          </a:xfrm>
        </p:spPr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0482245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269" y="1398780"/>
            <a:ext cx="3854528" cy="3758813"/>
          </a:xfrm>
        </p:spPr>
        <p:txBody>
          <a:bodyPr>
            <a:normAutofit/>
          </a:bodyPr>
          <a:lstStyle/>
          <a:p>
            <a:r>
              <a:rPr lang="en-US" dirty="0" smtClean="0"/>
              <a:t>The consumptions peaks from Friday until Sunday. The other weekdays seem to be weaker especially Monday. </a:t>
            </a:r>
            <a:endParaRPr lang="en-US" dirty="0"/>
          </a:p>
          <a:p>
            <a:r>
              <a:rPr lang="en-US" sz="1600" b="1" dirty="0" smtClean="0"/>
              <a:t>Recommendations </a:t>
            </a:r>
          </a:p>
          <a:p>
            <a:r>
              <a:rPr lang="en-US" dirty="0" smtClean="0"/>
              <a:t>Usually in the morning, the users may be getting prepared to go to work or preparing for the children to go to school.</a:t>
            </a:r>
          </a:p>
          <a:p>
            <a:r>
              <a:rPr lang="en-US" dirty="0" smtClean="0"/>
              <a:t>Bright tv could add kids content such as cartoons and educational shows.</a:t>
            </a:r>
          </a:p>
          <a:p>
            <a:r>
              <a:rPr lang="en-US" dirty="0" smtClean="0"/>
              <a:t>Bright tv can show new highlights, shorts recaps and daily affirmations content.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44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25" y="514350"/>
            <a:ext cx="3854528" cy="1278466"/>
          </a:xfrm>
        </p:spPr>
        <p:txBody>
          <a:bodyPr/>
          <a:lstStyle/>
          <a:p>
            <a:r>
              <a:rPr lang="en-US" dirty="0" smtClean="0"/>
              <a:t>Insights 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473633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225" y="2039316"/>
            <a:ext cx="3854528" cy="4080930"/>
          </a:xfrm>
        </p:spPr>
        <p:txBody>
          <a:bodyPr>
            <a:normAutofit/>
          </a:bodyPr>
          <a:lstStyle/>
          <a:p>
            <a:r>
              <a:rPr lang="en-US" dirty="0" smtClean="0"/>
              <a:t>The afternoon category is the strongest consumption periods followed by the morning category. </a:t>
            </a:r>
          </a:p>
          <a:p>
            <a:r>
              <a:rPr lang="en-US" dirty="0" smtClean="0"/>
              <a:t>The evening category is moderate and the midnight and night is low. </a:t>
            </a:r>
          </a:p>
          <a:p>
            <a:r>
              <a:rPr lang="en-US" sz="1600" b="1" dirty="0" smtClean="0"/>
              <a:t>Recommendations</a:t>
            </a:r>
          </a:p>
          <a:p>
            <a:r>
              <a:rPr lang="en-US" dirty="0" smtClean="0"/>
              <a:t>In order to increase the evening view, Bright tv can push notifications such as continue watching your series.</a:t>
            </a:r>
          </a:p>
          <a:p>
            <a:r>
              <a:rPr lang="en-US" dirty="0" smtClean="0"/>
              <a:t>Bright tv can send notifications to the users by stating that their favorite shows are live or available.</a:t>
            </a:r>
          </a:p>
          <a:p>
            <a:r>
              <a:rPr lang="en-US" dirty="0" smtClean="0"/>
              <a:t>Bright Tv can also produce family viewing content such as comedy shows, family drama, etc.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3890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35" y="514350"/>
            <a:ext cx="3854528" cy="1278466"/>
          </a:xfrm>
        </p:spPr>
        <p:txBody>
          <a:bodyPr/>
          <a:lstStyle/>
          <a:p>
            <a:pPr algn="ctr"/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804686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435" y="1792816"/>
            <a:ext cx="3854528" cy="4078048"/>
          </a:xfrm>
        </p:spPr>
        <p:txBody>
          <a:bodyPr>
            <a:normAutofit/>
          </a:bodyPr>
          <a:lstStyle/>
          <a:p>
            <a:r>
              <a:rPr lang="en-US" dirty="0" smtClean="0"/>
              <a:t>The age show that consumes Bright tv content is the young adults, followed by adults.</a:t>
            </a:r>
          </a:p>
          <a:p>
            <a:r>
              <a:rPr lang="en-US" dirty="0" smtClean="0"/>
              <a:t>The teenagers consume the least, this is due to teenagers prefer social media platforms such as tik</a:t>
            </a:r>
            <a:r>
              <a:rPr lang="en-US" dirty="0"/>
              <a:t> </a:t>
            </a:r>
            <a:r>
              <a:rPr lang="en-US" dirty="0" smtClean="0"/>
              <a:t>tok and YouTube. </a:t>
            </a:r>
          </a:p>
          <a:p>
            <a:r>
              <a:rPr lang="en-US" sz="1600" b="1" dirty="0" smtClean="0"/>
              <a:t>Recommendations</a:t>
            </a:r>
            <a:r>
              <a:rPr lang="en-US" b="1" dirty="0" smtClean="0"/>
              <a:t> </a:t>
            </a:r>
          </a:p>
          <a:p>
            <a:r>
              <a:rPr lang="en-US" dirty="0" smtClean="0"/>
              <a:t>In order to increase the consumption of the teenagers which could create an app that have short form clips, show channels that help with their studies.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0539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38731"/>
            <a:ext cx="3854528" cy="1278466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Insights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6137142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353" y="1841887"/>
            <a:ext cx="3854528" cy="363412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gender distribution char shows that the male consumes the most, this is due to Bright tv offering sports channels. </a:t>
            </a:r>
          </a:p>
          <a:p>
            <a:r>
              <a:rPr lang="en-US" dirty="0" smtClean="0"/>
              <a:t>The female category has 10.4% which is the lowest, this may be due to the channel offering more sports channels.</a:t>
            </a:r>
          </a:p>
          <a:p>
            <a:r>
              <a:rPr lang="en-US" sz="1600" b="1" dirty="0" smtClean="0"/>
              <a:t>Recommendations</a:t>
            </a:r>
          </a:p>
          <a:p>
            <a:r>
              <a:rPr lang="en-US" dirty="0" smtClean="0"/>
              <a:t>Bright tv should add channels that interest the female users, for example channels that show reality tv shows. </a:t>
            </a:r>
          </a:p>
          <a:p>
            <a:r>
              <a:rPr lang="en-US" dirty="0" smtClean="0"/>
              <a:t>Bright tv can send the female and non group surveys on what they would want to watch.</a:t>
            </a:r>
          </a:p>
          <a:p>
            <a:r>
              <a:rPr lang="en-US" dirty="0" smtClean="0"/>
              <a:t>Bright Tv can capitalize their research by collaborating with the platform such as Showmax to expand their channel offerings.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457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05245"/>
            <a:ext cx="3854528" cy="768928"/>
          </a:xfrm>
        </p:spPr>
        <p:txBody>
          <a:bodyPr/>
          <a:lstStyle/>
          <a:p>
            <a:pPr algn="ctr"/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798069"/>
              </p:ext>
            </p:extLst>
          </p:nvPr>
        </p:nvGraphicFramePr>
        <p:xfrm>
          <a:off x="4760913" y="514350"/>
          <a:ext cx="4513262" cy="552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91" y="1259996"/>
            <a:ext cx="3854528" cy="1930013"/>
          </a:xfrm>
        </p:spPr>
        <p:txBody>
          <a:bodyPr/>
          <a:lstStyle/>
          <a:p>
            <a:r>
              <a:rPr lang="en-US" dirty="0" smtClean="0"/>
              <a:t>The graphs was created according to the number of users that have social media handles, this helps with checking which right form of advertising would be most effective. </a:t>
            </a:r>
          </a:p>
          <a:p>
            <a:r>
              <a:rPr lang="en-US" dirty="0" smtClean="0"/>
              <a:t>The most effective advertising would be social media advertisement and the ones that do not have social media, we would email or use other forms of advertising such as sms.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16086" y="3512127"/>
            <a:ext cx="402128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Recommendations</a:t>
            </a:r>
          </a:p>
          <a:p>
            <a:r>
              <a:rPr lang="en-US" sz="1400" dirty="0" smtClean="0"/>
              <a:t>Bright tv could hire influencers that could promote bright tv. </a:t>
            </a:r>
          </a:p>
          <a:p>
            <a:r>
              <a:rPr lang="en-US" sz="1400" dirty="0" smtClean="0"/>
              <a:t>Bright tv should create a social media account whereby they would create short teasers clips.</a:t>
            </a:r>
          </a:p>
          <a:p>
            <a:r>
              <a:rPr lang="en-US" sz="1400" dirty="0" smtClean="0"/>
              <a:t>By having a social media account, Bright tv could review how the users feel about the channel and should increase the number of users. </a:t>
            </a:r>
            <a:endParaRPr lang="en-US" sz="1400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916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</TotalTime>
  <Words>564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Bright TV Analysis</vt:lpstr>
      <vt:lpstr>Top channels</vt:lpstr>
      <vt:lpstr>Insights</vt:lpstr>
      <vt:lpstr>Insights </vt:lpstr>
      <vt:lpstr>Insights</vt:lpstr>
      <vt:lpstr> Insights </vt:lpstr>
      <vt:lpstr>Insights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Nothando</dc:creator>
  <cp:lastModifiedBy>Nothando</cp:lastModifiedBy>
  <cp:revision>19</cp:revision>
  <dcterms:created xsi:type="dcterms:W3CDTF">2025-11-17T00:49:17Z</dcterms:created>
  <dcterms:modified xsi:type="dcterms:W3CDTF">2025-11-17T06:45:12Z</dcterms:modified>
</cp:coreProperties>
</file>